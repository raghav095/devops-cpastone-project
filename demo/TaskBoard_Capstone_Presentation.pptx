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0" b="1">
                <a:solidFill>
                  <a:srgbClr val="0F172A"/>
                </a:solidFill>
                <a:latin typeface="Calibri"/>
              </a:defRPr>
            </a:pPr>
            <a:r>
              <a:t>TaskBoard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563EB"/>
                </a:solidFill>
                <a:latin typeface="Calibri"/>
              </a:defRPr>
            </a:pPr>
            <a:r>
              <a:t>DevOps Final Capstone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49039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749039"/>
            <a:ext cx="91440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977639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● </a:t>
            </a:r>
            <a:r>
              <a:rPr sz="1600" b="1">
                <a:solidFill>
                  <a:srgbClr val="0F172A"/>
                </a:solidFill>
                <a:latin typeface="Calibri"/>
              </a:rPr>
              <a:t>Author: </a:t>
            </a:r>
            <a:r>
              <a:rPr sz="1600">
                <a:solidFill>
                  <a:srgbClr val="1E293B"/>
                </a:solidFill>
                <a:latin typeface="Calibri"/>
              </a:rPr>
              <a:t>Raghav Rathi  (Roll No: 10033)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● </a:t>
            </a:r>
            <a:r>
              <a:rPr sz="1600" b="1">
                <a:solidFill>
                  <a:srgbClr val="0F172A"/>
                </a:solidFill>
                <a:latin typeface="Calibri"/>
              </a:rPr>
              <a:t>Repository: </a:t>
            </a:r>
            <a:r>
              <a:rPr sz="1600">
                <a:solidFill>
                  <a:srgbClr val="1E293B"/>
                </a:solidFill>
                <a:latin typeface="Calibri"/>
              </a:rPr>
              <a:t>github.com/raghav095/Devops-Cpastone-project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Project Architecture &amp; DevOps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End-to-end pipeline from local developer commit to production AWS cloud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5912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34440"/>
            <a:ext cx="10149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urier"/>
              </a:defRPr>
            </a:pPr>
            <a:r>
              <a:t>    Developer Laptop</a:t>
            </a:r>
            <a:br/>
            <a:r>
              <a:t>          │  git push</a:t>
            </a:r>
            <a:br/>
            <a:r>
              <a:t>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 GitHub Actions CI/CD Pipeline                        │</a:t>
            </a:r>
            <a:br/>
            <a:r>
              <a:t>    │   ┌───────────────┬────────────────┬────────────────┬─────────────────┐   │</a:t>
            </a:r>
            <a:br/>
            <a:r>
              <a:t>    │   │  pytest Tests │  Docker Build  │  Trivy SecOps  │  GHCR Push SHA  │   │</a:t>
            </a:r>
            <a:br/>
            <a:r>
              <a:t>    │   │  6/6 Passing  │  Multi-Stage   │  0 CRITICAL    │  Immutable Tag  │   │</a:t>
            </a:r>
            <a:br/>
            <a:r>
              <a:t>    │   └───────────────┴────────────────┴────────────────┴─────────────────┘   │</a:t>
            </a:r>
            <a:br/>
            <a:r>
              <a:t>    └─────────────────────────────────────┬─────────────────────────────────────┘</a:t>
            </a:r>
            <a:br/>
            <a:r>
              <a:t>      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Infrastructure as Code (Terraform — AWS VPC &amp; EKS)           │</a:t>
            </a:r>
            <a:br/>
            <a:r>
              <a:t>    │      2 Public Subnets  ·  2 Private Subnets  ·  NAT Gateway  ·  EKS 1.31   │</a:t>
            </a:r>
            <a:br/>
            <a:r>
              <a:t>    └─────────────────────────────────────┬─────────────────────────────────────┘</a:t>
            </a:r>
            <a:br/>
            <a:r>
              <a:t>      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Kubernetes Production Cluster (Helm: taskboard)              │</a:t>
            </a:r>
            <a:br/>
            <a:r>
              <a:t>    │   ┌────────────────────┐   ┌────────────────────┐   ┌─────────────────┐   │</a:t>
            </a:r>
            <a:br/>
            <a:r>
              <a:t>    │   │ Frontend: React 18 │   │  Backend: FastAPI  │   │  PostgreSQL 16  │   │</a:t>
            </a:r>
            <a:br/>
            <a:r>
              <a:t>    │   │ Nginx Alpine &lt;25MB │   │  Non-root appuser  │   │  PersistentVol  │   │</a:t>
            </a:r>
            <a:br/>
            <a:r>
              <a:t>    │   └─────────┬──────────┘   └─────────┬──────────┘   └─────────────────┘   │</a:t>
            </a:r>
            <a:br/>
            <a:r>
              <a:t>    │             └─────────── ClusterIP Services ───────────────┘              │</a:t>
            </a:r>
            <a:br/>
            <a:r>
              <a:t>    │                  Ingress Controller  ·  HPA Auto-scaling                  │</a:t>
            </a:r>
            <a:br/>
            <a:r>
              <a:t>    └─────────────────────────────────────┬─────────────────────────────────────┘</a:t>
            </a:r>
            <a:br/>
            <a:r>
              <a:t>      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Observability, Monitoring &amp; Incident Response                │</a:t>
            </a:r>
            <a:br/>
            <a:r>
              <a:t>    │       Prometheus /metrics  ·  ServiceMonitor  ·  Zero-Downtime Rollback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Full-Stack Containerization (Docker Compose)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One-command local development stack with PostgreSQL, FastAPI &amp; React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39319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73152" cy="4617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258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Multi-Container: </a:t>
            </a:r>
            <a:r>
              <a:rPr sz="1400">
                <a:solidFill>
                  <a:srgbClr val="1E293B"/>
                </a:solidFill>
                <a:latin typeface="Calibri"/>
              </a:rPr>
              <a:t>Declarative stack configured in docker-compose.yml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PostgreSQL 16: </a:t>
            </a:r>
            <a:r>
              <a:rPr sz="1400">
                <a:solidFill>
                  <a:srgbClr val="1E293B"/>
                </a:solidFill>
                <a:latin typeface="Calibri"/>
              </a:rPr>
              <a:t>Health check dependency gates prevent race conditions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FastAPI Backend: </a:t>
            </a:r>
            <a:r>
              <a:rPr sz="1400">
                <a:solidFill>
                  <a:srgbClr val="1E293B"/>
                </a:solidFill>
                <a:latin typeface="Calibri"/>
              </a:rPr>
              <a:t>Exposed on port 8000 with interactive Swagger UI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React 18 Frontend: </a:t>
            </a:r>
            <a:r>
              <a:rPr sz="1400">
                <a:solidFill>
                  <a:srgbClr val="1E293B"/>
                </a:solidFill>
                <a:latin typeface="Calibri"/>
              </a:rPr>
              <a:t>SPA dashboard running on port 3000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Probes: </a:t>
            </a:r>
            <a:r>
              <a:rPr sz="1400">
                <a:solidFill>
                  <a:srgbClr val="1E293B"/>
                </a:solidFill>
                <a:latin typeface="Calibri"/>
              </a:rPr>
              <a:t>Dedicated /health (liveness) &amp; /ready (readiness) endpoints</a:t>
            </a:r>
          </a:p>
        </p:txBody>
      </p:sp>
      <p:pic>
        <p:nvPicPr>
          <p:cNvPr id="11" name="Picture 10" descr="m1-01-docker-compose-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6611112" cy="4299471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Run: docker compose up --build -d  ·  Verification: docker compose 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Application Dashboard &amp; API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TaskBoard live frontend UI and FastAPI interactive Swagger documentation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5257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0700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Calibri"/>
              </a:defRPr>
            </a:pPr>
            <a:r>
              <a:t>🖥️  React 18 Frontend UI (localhost:3000)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Real-time task management with priority badges &amp; statistics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Asynchronous REST API consumption with instant UI reactivity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43000"/>
            <a:ext cx="5257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0700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Calibri"/>
              </a:defRPr>
            </a:pPr>
            <a:r>
              <a:t>⚡  FastAPI Interactive Swagger (localhost:8000/docs)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5087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Auto-generated OpenAPI documentation for all CRUD endpoints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Interactive API exploration for tasks, metrics, and health status</a:t>
            </a:r>
          </a:p>
        </p:txBody>
      </p:sp>
      <p:pic>
        <p:nvPicPr>
          <p:cNvPr id="14" name="Picture 13" descr="m1-02-frontend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04288"/>
            <a:ext cx="5257800" cy="3419358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pic>
        <p:nvPicPr>
          <p:cNvPr id="15" name="Picture 14" descr="m1-03-swagger-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04288"/>
            <a:ext cx="5257800" cy="3419358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Both frontend (port 3000) and backend (port 8000) running with active database connectivity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Automated Testing Suite &amp; Test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Pytest unit testing with isolated SQLite database — zero production side-effects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39319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73152" cy="4617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258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100% Passing: </a:t>
            </a:r>
            <a:r>
              <a:rPr sz="1400">
                <a:solidFill>
                  <a:srgbClr val="1E293B"/>
                </a:solidFill>
                <a:latin typeface="Calibri"/>
              </a:rPr>
              <a:t>All 6 unit tests passing green with 0 failures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CRUD Coverage: </a:t>
            </a:r>
            <a:r>
              <a:rPr sz="1400">
                <a:solidFill>
                  <a:srgbClr val="1E293B"/>
                </a:solidFill>
                <a:latin typeface="Calibri"/>
              </a:rPr>
              <a:t>Tests cover task creation, retrieval, updates, and deletion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Health Endpoints: </a:t>
            </a:r>
            <a:r>
              <a:rPr sz="1400">
                <a:solidFill>
                  <a:srgbClr val="1E293B"/>
                </a:solidFill>
                <a:latin typeface="Calibri"/>
              </a:rPr>
              <a:t>Verified /health, /ready, and /api/tasks/stats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Database Isolation: </a:t>
            </a:r>
            <a:r>
              <a:rPr sz="1400">
                <a:solidFill>
                  <a:srgbClr val="1E293B"/>
                </a:solidFill>
                <a:latin typeface="Calibri"/>
              </a:rPr>
              <a:t>Temporary in-memory SQLite fixture prevents data contamination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Automated Gate: </a:t>
            </a:r>
            <a:r>
              <a:rPr sz="1400">
                <a:solidFill>
                  <a:srgbClr val="1E293B"/>
                </a:solidFill>
                <a:latin typeface="Calibri"/>
              </a:rPr>
              <a:t>Runs locally and as a mandatory CI pipeline pre-condition</a:t>
            </a:r>
          </a:p>
        </p:txBody>
      </p:sp>
      <p:pic>
        <p:nvPicPr>
          <p:cNvPr id="11" name="Picture 10" descr="m2-01-pytest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6611112" cy="4299471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Execution: cd backend &amp;&amp; pytest -v  ·  All 6 tests passing in 0.42s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Git Version Control &amp; Commit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Structured Conventional Commits with strict .gitignore and branch protection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39319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73152" cy="4617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258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Granular History: </a:t>
            </a:r>
            <a:r>
              <a:rPr sz="1400">
                <a:solidFill>
                  <a:srgbClr val="1E293B"/>
                </a:solidFill>
                <a:latin typeface="Calibri"/>
              </a:rPr>
              <a:t>Logical commit sequence: scaffolding → features → infra → docs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Conventional Commits: </a:t>
            </a:r>
            <a:r>
              <a:rPr sz="1400">
                <a:solidFill>
                  <a:srgbClr val="1E293B"/>
                </a:solidFill>
                <a:latin typeface="Calibri"/>
              </a:rPr>
              <a:t>Standardized prefixes: feat, fix, docs, chore, test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Security Hygiene: </a:t>
            </a:r>
            <a:r>
              <a:rPr sz="1400">
                <a:solidFill>
                  <a:srgbClr val="1E293B"/>
                </a:solidFill>
                <a:latin typeface="Calibri"/>
              </a:rPr>
              <a:t>Strict .gitignore prevents leaks of venvs, caches &amp; credentials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Branch Protection: </a:t>
            </a:r>
            <a:r>
              <a:rPr sz="1400">
                <a:solidFill>
                  <a:srgbClr val="1E293B"/>
                </a:solidFill>
                <a:latin typeface="Calibri"/>
              </a:rPr>
              <a:t>Automated GitHub Actions CI validation on push to main</a:t>
            </a:r>
          </a:p>
        </p:txBody>
      </p:sp>
      <p:pic>
        <p:nvPicPr>
          <p:cNvPr id="11" name="Picture 10" descr="m3-01-git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6611112" cy="4299471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Repository: github.com/raghav095/Devops-Cpastone-project (Branch: main)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Docker Multi-Stage Builds &amp; Image 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Minimal, secure and production-optimized container images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5257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0700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Calibri"/>
              </a:defRPr>
            </a:pPr>
            <a:r>
              <a:t>🐍  Backend Multi-Stage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Python 3.12-slim base image with wheels compiled in builder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Non-root security execution: runs as appuser (UID 10001)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43000"/>
            <a:ext cx="5257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0700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Calibri"/>
              </a:defRPr>
            </a:pPr>
            <a:r>
              <a:t>📦  Frontend Optimized Image (&lt; 25 MB)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5087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Node 20 build stage compiled to static HTML/JS assets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Production runtime served via lightweight Nginx Alpine container</a:t>
            </a:r>
          </a:p>
        </p:txBody>
      </p:sp>
      <p:pic>
        <p:nvPicPr>
          <p:cNvPr id="14" name="Picture 13" descr="m4-01-docker-backend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04288"/>
            <a:ext cx="5257800" cy="3419358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pic>
        <p:nvPicPr>
          <p:cNvPr id="15" name="Picture 14" descr="m4-02-docker-frontend-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04288"/>
            <a:ext cx="5257800" cy="3419358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Multi-stage builds reduce attack surface and achieve sub-30-second incremental build times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Automated CI/CD Pipeline (GitHub Actions)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End-to-end automated workflow: .github/workflows/devsecops-ci-cd.yml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5257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0700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Calibri"/>
              </a:defRPr>
            </a:pPr>
            <a:r>
              <a:t>⚙️  Automated Pipeline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Triggered on git push &amp; pull_request to main branch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Sequential stages: Pytest → Docker Build → Trivy Scan → GHCR Push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43000"/>
            <a:ext cx="5257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0700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Calibri"/>
              </a:defRPr>
            </a:pPr>
            <a:r>
              <a:t>🚀  Continuous Delivery &amp; Traceability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5087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Images tagged with dynamic Git commit SHA for immutable releases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Verified green pipeline runs on GitHub Actions infrastructure</a:t>
            </a:r>
          </a:p>
        </p:txBody>
      </p:sp>
      <p:pic>
        <p:nvPicPr>
          <p:cNvPr id="14" name="Picture 13" descr="m5-01-github-actions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04288"/>
            <a:ext cx="5257800" cy="3419358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pic>
        <p:nvPicPr>
          <p:cNvPr id="15" name="Picture 14" descr="m5-02-actions-workflow-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04288"/>
            <a:ext cx="5257800" cy="3419358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Pipeline file: .github/workflows/devsecops-ci-cd.yml  ·  100% green build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DevSecOps Vulnerability Scanning (Trivy)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Aqua Security Trivy automated container image security gate in CI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39319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73152" cy="4617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258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Vulnerability Scan: </a:t>
            </a:r>
            <a:r>
              <a:rPr sz="1400">
                <a:solidFill>
                  <a:srgbClr val="1E293B"/>
                </a:solidFill>
                <a:latin typeface="Calibri"/>
              </a:rPr>
              <a:t>Scans base OS packages and application dependencies against NVD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Security Gate: </a:t>
            </a:r>
            <a:r>
              <a:rPr sz="1400">
                <a:solidFill>
                  <a:srgbClr val="1E293B"/>
                </a:solidFill>
                <a:latin typeface="Calibri"/>
              </a:rPr>
              <a:t>Pipeline automatically fails if CRITICAL or HIGH CVEs detected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Non-Root Check: </a:t>
            </a:r>
            <a:r>
              <a:rPr sz="1400">
                <a:solidFill>
                  <a:srgbClr val="1E293B"/>
                </a:solidFill>
                <a:latin typeface="Calibri"/>
              </a:rPr>
              <a:t>Enforces non-root container execution and secret hygiene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Shift-Left DevSecOps: </a:t>
            </a:r>
            <a:r>
              <a:rPr sz="1400">
                <a:solidFill>
                  <a:srgbClr val="1E293B"/>
                </a:solidFill>
                <a:latin typeface="Calibri"/>
              </a:rPr>
              <a:t>Identifies and blocks vulnerabilities prior to registry publication</a:t>
            </a:r>
          </a:p>
        </p:txBody>
      </p:sp>
      <p:pic>
        <p:nvPicPr>
          <p:cNvPr id="11" name="Picture 10" descr="m6-01-trivy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6611112" cy="4299471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Zero CRITICAL vulnerabilities permitted — images never published without passing Trivy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Infrastructure as Code (Terraform — AWS VPC &amp; EKS)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Declarative cloud infrastructure provisioning with full lifecycle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39319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73152" cy="4617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258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Modular AWS VPC: </a:t>
            </a:r>
            <a:r>
              <a:rPr sz="1400">
                <a:solidFill>
                  <a:srgbClr val="1E293B"/>
                </a:solidFill>
                <a:latin typeface="Calibri"/>
              </a:rPr>
              <a:t>2 public subnets + 2 private subnets across 2 AZs with NAT Gateway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AWS EKS Cluster: </a:t>
            </a:r>
            <a:r>
              <a:rPr sz="1400">
                <a:solidFill>
                  <a:srgbClr val="1E293B"/>
                </a:solidFill>
                <a:latin typeface="Calibri"/>
              </a:rPr>
              <a:t>Kubernetes 1.31 cluster with managed node group (t3.medium)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Terraform Lifecycle: </a:t>
            </a:r>
            <a:r>
              <a:rPr sz="1400">
                <a:solidFill>
                  <a:srgbClr val="1E293B"/>
                </a:solidFill>
                <a:latin typeface="Calibri"/>
              </a:rPr>
              <a:t>Complete validate → plan → apply → destroy automated execution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Resource Accounting: </a:t>
            </a:r>
            <a:r>
              <a:rPr sz="1400">
                <a:solidFill>
                  <a:srgbClr val="1E293B"/>
                </a:solidFill>
                <a:latin typeface="Calibri"/>
              </a:rPr>
              <a:t>52 cloud resources provisioned and cleanly destroyed</a:t>
            </a:r>
          </a:p>
        </p:txBody>
      </p:sp>
      <p:pic>
        <p:nvPicPr>
          <p:cNvPr id="11" name="Picture 10" descr="m7-01-terraform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6611112" cy="4299471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Directory: terraform/  ·  Declarative modules for VPC, EKS, and security groups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AWS Cloud Infrastructure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Real AWS Management Console screenshots proving infrastructure was live and verified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3429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0700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🌐  AWS EKS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2563EB"/>
                </a:solidFill>
                <a:latin typeface="Calibri"/>
              </a:rPr>
              <a:t>● </a:t>
            </a:r>
            <a:r>
              <a:rPr sz="1150">
                <a:solidFill>
                  <a:srgbClr val="1E293B"/>
                </a:solidFill>
                <a:latin typeface="Calibri"/>
              </a:rPr>
              <a:t>Active Kubernetes 1.31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563EB"/>
                </a:solidFill>
                <a:latin typeface="Calibri"/>
              </a:rPr>
              <a:t>● </a:t>
            </a:r>
            <a:r>
              <a:rPr sz="1150">
                <a:solidFill>
                  <a:srgbClr val="1E293B"/>
                </a:solidFill>
                <a:latin typeface="Calibri"/>
              </a:rPr>
              <a:t>Managed node group healthy</a:t>
            </a:r>
          </a:p>
        </p:txBody>
      </p:sp>
      <p:pic>
        <p:nvPicPr>
          <p:cNvPr id="11" name="Picture 10" descr="m7-05-aws-eks-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59152"/>
            <a:ext cx="3429000" cy="2230016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4379976" y="1143000"/>
            <a:ext cx="3429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20700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🛡️  AWS VPC 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15087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2563EB"/>
                </a:solidFill>
                <a:latin typeface="Calibri"/>
              </a:rPr>
              <a:t>● </a:t>
            </a:r>
            <a:r>
              <a:rPr sz="1150">
                <a:solidFill>
                  <a:srgbClr val="1E293B"/>
                </a:solidFill>
                <a:latin typeface="Calibri"/>
              </a:rPr>
              <a:t>Public &amp; Private subnets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563EB"/>
                </a:solidFill>
                <a:latin typeface="Calibri"/>
              </a:rPr>
              <a:t>● </a:t>
            </a:r>
            <a:r>
              <a:rPr sz="1150">
                <a:solidFill>
                  <a:srgbClr val="1E293B"/>
                </a:solidFill>
                <a:latin typeface="Calibri"/>
              </a:rPr>
              <a:t>NAT Gateway &amp; Route tables</a:t>
            </a:r>
          </a:p>
        </p:txBody>
      </p:sp>
      <p:pic>
        <p:nvPicPr>
          <p:cNvPr id="15" name="Picture 14" descr="m7-06-aws-v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359152"/>
            <a:ext cx="3429000" cy="2230016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8028431" y="1143000"/>
            <a:ext cx="3429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20700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🧹  Clean Teardown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15087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2563EB"/>
                </a:solidFill>
                <a:latin typeface="Calibri"/>
              </a:rPr>
              <a:t>● </a:t>
            </a:r>
            <a:r>
              <a:rPr sz="1150">
                <a:solidFill>
                  <a:srgbClr val="1E293B"/>
                </a:solidFill>
                <a:latin typeface="Calibri"/>
              </a:rPr>
              <a:t>52 resources destroyed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2563EB"/>
                </a:solidFill>
                <a:latin typeface="Calibri"/>
              </a:rPr>
              <a:t>● </a:t>
            </a:r>
            <a:r>
              <a:rPr sz="1150">
                <a:solidFill>
                  <a:srgbClr val="1E293B"/>
                </a:solidFill>
                <a:latin typeface="Calibri"/>
              </a:rPr>
              <a:t>Zero lingering AWS costs</a:t>
            </a:r>
          </a:p>
        </p:txBody>
      </p:sp>
      <p:pic>
        <p:nvPicPr>
          <p:cNvPr id="19" name="Picture 18" descr="m7-07-terraform-destro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359152"/>
            <a:ext cx="3429000" cy="2230016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Full infrastructure lifecycle executed cleanly with zero cost leakage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Kubernetes Deployment &amp; Helm Package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Production orchestration with parameterized Helm 3 chart: helm/taskboard/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5257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0700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Calibri"/>
              </a:defRPr>
            </a:pPr>
            <a:r>
              <a:t>⎈  Helm 3 Chart Packaging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Modular templates for Deployments, Services, Ingress, and HPA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Pre-deployment validation via helm lint and helm template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43000"/>
            <a:ext cx="5257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0700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Calibri"/>
              </a:defRPr>
            </a:pPr>
            <a:r>
              <a:t>🟢  Running Pods, Services &amp; HPA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5087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All pods healthy and Running in dedicated taskboard namespace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● </a:t>
            </a:r>
            <a:r>
              <a:rPr sz="1200">
                <a:solidFill>
                  <a:srgbClr val="1E293B"/>
                </a:solidFill>
                <a:latin typeface="Calibri"/>
              </a:rPr>
              <a:t>Horizontal Pod Autoscaler configured for CPU-based scaling</a:t>
            </a:r>
          </a:p>
        </p:txBody>
      </p:sp>
      <p:pic>
        <p:nvPicPr>
          <p:cNvPr id="14" name="Picture 13" descr="m8-01-helm-lint-and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04288"/>
            <a:ext cx="5257800" cy="3419358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pic>
        <p:nvPicPr>
          <p:cNvPr id="15" name="Picture 14" descr="m8-02-k8s-running-p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04288"/>
            <a:ext cx="5257800" cy="3419358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Chart location: helm/taskboard/  ·  Deployed via Helm release: taskboard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Observability — Prometheus Metrics Instrumentation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Real-time application metrics exported at /metrics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39319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73152" cy="4617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258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FastAPI Instrumentation: </a:t>
            </a:r>
            <a:r>
              <a:rPr sz="1400">
                <a:solidFill>
                  <a:srgbClr val="1E293B"/>
                </a:solidFill>
                <a:latin typeface="Calibri"/>
              </a:rPr>
              <a:t>Configured via prometheus-fastapi-instrumentator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Exported Metrics: </a:t>
            </a:r>
            <a:r>
              <a:rPr sz="1400">
                <a:solidFill>
                  <a:srgbClr val="1E293B"/>
                </a:solidFill>
                <a:latin typeface="Calibri"/>
              </a:rPr>
              <a:t>HTTP request counts, latency histograms, and status codes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Prometheus Scraper: </a:t>
            </a:r>
            <a:r>
              <a:rPr sz="1400">
                <a:solidFill>
                  <a:srgbClr val="1E293B"/>
                </a:solidFill>
                <a:latin typeface="Calibri"/>
              </a:rPr>
              <a:t>Kubernetes ServiceMonitor auto-discovers and scrapes backend pods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Grafana Dashboards: </a:t>
            </a:r>
            <a:r>
              <a:rPr sz="1400">
                <a:solidFill>
                  <a:srgbClr val="1E293B"/>
                </a:solidFill>
                <a:latin typeface="Calibri"/>
              </a:rPr>
              <a:t>Pre-configured Prometheus datasource in monitoring/grafana-values.yaml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Health Probes: </a:t>
            </a:r>
            <a:r>
              <a:rPr sz="1400">
                <a:solidFill>
                  <a:srgbClr val="1E293B"/>
                </a:solidFill>
                <a:latin typeface="Calibri"/>
              </a:rPr>
              <a:t>Liveness (/health) and readiness (/ready) monitored continuously</a:t>
            </a:r>
          </a:p>
        </p:txBody>
      </p:sp>
      <p:pic>
        <p:nvPicPr>
          <p:cNvPr id="11" name="Picture 10" descr="m9-01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6611112" cy="4293349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Metrics scrape verified via: curl http://localhost:8000/metrics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Calibri"/>
              </a:defRPr>
            </a:pPr>
            <a:r>
              <a:t>Incident Response, Troubleshooting &amp; Root Cause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Hands-on failure diagnosis, remediation, and zero-downtime rollback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39319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73152" cy="4617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258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Scenario 1: ImagePullBackOff: </a:t>
            </a:r>
            <a:r>
              <a:rPr sz="1400">
                <a:solidFill>
                  <a:srgbClr val="1E293B"/>
                </a:solidFill>
                <a:latin typeface="Calibri"/>
              </a:rPr>
              <a:t>Diagnosed with kubectl describe pod → Root cause: non-existent tag → Fixed image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Scenario 2: Service Error: </a:t>
            </a:r>
            <a:r>
              <a:rPr sz="1400">
                <a:solidFill>
                  <a:srgbClr val="1E293B"/>
                </a:solidFill>
                <a:latin typeface="Calibri"/>
              </a:rPr>
              <a:t>Inspected endpoints (&lt;none&gt;) → Root cause: mismatched label selector → Aligned labels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Zero-Downtime Rollback: </a:t>
            </a:r>
            <a:r>
              <a:rPr sz="1400">
                <a:solidFill>
                  <a:srgbClr val="1E293B"/>
                </a:solidFill>
                <a:latin typeface="Calibri"/>
              </a:rPr>
              <a:t>Instant recovery executed using kubectl rollout undo deployment/&lt;name&gt;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● </a:t>
            </a:r>
            <a:r>
              <a:rPr sz="1400" b="1">
                <a:solidFill>
                  <a:srgbClr val="0F172A"/>
                </a:solidFill>
                <a:latin typeface="Calibri"/>
              </a:rPr>
              <a:t>Lab Artifacts: </a:t>
            </a:r>
            <a:r>
              <a:rPr sz="1400">
                <a:solidFill>
                  <a:srgbClr val="1E293B"/>
                </a:solidFill>
                <a:latin typeface="Calibri"/>
              </a:rPr>
              <a:t>Manifests preserved in troubleshooting/broken-image.yaml &amp; broken-service.yaml</a:t>
            </a:r>
          </a:p>
        </p:txBody>
      </p:sp>
      <p:pic>
        <p:nvPicPr>
          <p:cNvPr id="11" name="Picture 10" descr="m10-01-troublesho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6611112" cy="4293349"/>
          </a:xfrm>
          <a:prstGeom prst="rect">
            <a:avLst/>
          </a:prstGeom>
          <a:ln w="19050">
            <a:solidFill>
              <a:srgbClr val="CBD5E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731520" y="5897880"/>
            <a:ext cx="1072591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Calibri"/>
              </a:defRPr>
            </a:pPr>
            <a:r>
              <a:t>💡 Manifests: troubleshooting/broken-image.yaml &amp; troubleshooting/broken-service.yaml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TaskBoard — DevOps Capstone Project | Raghav Rathi (10033)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